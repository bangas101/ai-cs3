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notesMasterIdLst>
    <p:notesMasterId r:id="rId12"/>
  </p:notesMasterIdLst>
  <p:sldIdLst>
    <p:sldId id="256" r:id="rId2"/>
    <p:sldId id="259" r:id="rId3"/>
    <p:sldId id="260" r:id="rId4"/>
    <p:sldId id="261" r:id="rId5"/>
    <p:sldId id="270" r:id="rId6"/>
    <p:sldId id="262" r:id="rId7"/>
    <p:sldId id="263" r:id="rId8"/>
    <p:sldId id="264" r:id="rId9"/>
    <p:sldId id="271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67C95-943F-4406-BF50-B54E971FFE93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F0A54-78BB-4E41-8150-808E2C2FD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0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F0A54-78BB-4E41-8150-808E2C2FDF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305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530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07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723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35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47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128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45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09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4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79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4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37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59" y="490128"/>
            <a:ext cx="8679917" cy="1143000"/>
          </a:xfrm>
        </p:spPr>
        <p:txBody>
          <a:bodyPr>
            <a:noAutofit/>
          </a:bodyPr>
          <a:lstStyle/>
          <a:p>
            <a:pPr algn="ctr"/>
            <a:r>
              <a:rPr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Plant Disease Segmentation and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4465" y="3625492"/>
            <a:ext cx="7538720" cy="2742380"/>
          </a:xfrm>
        </p:spPr>
        <p:txBody>
          <a:bodyPr>
            <a:noAutofit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Kato Joseph Bwanika                    Reg:2023-B291-11709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Mambo Emmanuel                        Reg:2022-B291-11357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Ssenkaayi</a:t>
            </a:r>
            <a:r>
              <a:rPr lang="en-US" b="1" dirty="0"/>
              <a:t> Vianney John M           Reg:2023-B291-11360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Kutosi Mark                                      Reg:2023-B291-11708 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Lubangakene</a:t>
            </a:r>
            <a:r>
              <a:rPr lang="en-US" b="1" dirty="0"/>
              <a:t> Jonathan	                Reg:2023-B291-13195</a:t>
            </a:r>
          </a:p>
          <a:p>
            <a:pPr>
              <a:buFont typeface="+mj-lt"/>
              <a:buAutoNum type="arabicPeriod"/>
            </a:pPr>
            <a:r>
              <a:rPr lang="en-US" b="1" dirty="0" err="1"/>
              <a:t>Kayooro</a:t>
            </a:r>
            <a:r>
              <a:rPr lang="en-US" b="1" dirty="0"/>
              <a:t> P. Paul.   		 </a:t>
            </a:r>
            <a:r>
              <a:rPr lang="en-US" b="1" dirty="0" err="1"/>
              <a:t>Reg</a:t>
            </a:r>
            <a:r>
              <a:rPr lang="en-US" b="1" dirty="0"/>
              <a:t>: 2023-B291-13203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20CB8C9-6CA1-8B79-14FD-F078411BD3E6}"/>
              </a:ext>
            </a:extLst>
          </p:cNvPr>
          <p:cNvSpPr txBox="1">
            <a:spLocks/>
          </p:cNvSpPr>
          <p:nvPr/>
        </p:nvSpPr>
        <p:spPr>
          <a:xfrm>
            <a:off x="213360" y="3160739"/>
            <a:ext cx="2323363" cy="5365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TWO</a:t>
            </a:r>
          </a:p>
        </p:txBody>
      </p:sp>
      <p:pic>
        <p:nvPicPr>
          <p:cNvPr id="5" name="Picture 4" descr="Uganda Martyrs University | E4Impact">
            <a:extLst>
              <a:ext uri="{FF2B5EF4-FFF2-40B4-BE49-F238E27FC236}">
                <a16:creationId xmlns:a16="http://schemas.microsoft.com/office/drawing/2014/main" id="{FC04F653-DB63-D6A3-BF9D-808D2859B2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70" t="15422" r="15737" b="14760"/>
          <a:stretch>
            <a:fillRect/>
          </a:stretch>
        </p:blipFill>
        <p:spPr bwMode="auto">
          <a:xfrm>
            <a:off x="3829116" y="1834055"/>
            <a:ext cx="1706270" cy="1824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049" y="139192"/>
            <a:ext cx="8229600" cy="934730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and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974" y="5100727"/>
            <a:ext cx="7433187" cy="1261979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Collected maize leaf images in four categories.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Resized images to 224x224 pixels and normalized for model input.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Applied data augmentation: rotation, zooming, and flipping to enhance learning and reduce overfitting.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Split dataset: 80% for training, 20% for testing.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588" y="1094252"/>
            <a:ext cx="2192007" cy="18882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163" y="1079946"/>
            <a:ext cx="2208111" cy="19287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617" y="1064465"/>
            <a:ext cx="2208111" cy="19585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149" y="1094252"/>
            <a:ext cx="2170700" cy="1928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42EE3D-26AD-234E-297D-32C35C024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74" y="3178278"/>
            <a:ext cx="5277587" cy="17528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12AA35-57D8-DDEB-926B-01604BA131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6285" y="3254488"/>
            <a:ext cx="2981741" cy="1600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52" y="194805"/>
            <a:ext cx="8229600" cy="920384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OpenCV Segmentation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924" y="3751068"/>
            <a:ext cx="6079958" cy="250315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Used OpenCV to find sick spots on leaves.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Changed images to gray for easy work.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Used adaptive thresholding to separate leaf from background.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Cleaned noise with shape changes.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Got simple black-and-white masks showing sick parts.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008639-2BAC-0069-B8CD-B556C3DE01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008" y="3769914"/>
            <a:ext cx="2351527" cy="246396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3BC6CF1-883F-5730-CADB-7507AEFAF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007" y="1115189"/>
            <a:ext cx="2351527" cy="246396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E5AB2-64F6-0B52-0D27-142B7E26B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52" y="1137312"/>
            <a:ext cx="6127502" cy="25031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433"/>
            <a:ext cx="6386052" cy="80371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Contour detection</a:t>
            </a:r>
            <a:endParaRPr sz="5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CAEE3-EC77-6D34-F382-AAF001711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60" y="2524763"/>
            <a:ext cx="8497018" cy="17093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CE2CFB6-C82B-4F27-4897-0CAD6DAB05C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89782" y="4380117"/>
            <a:ext cx="6518027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Used contours to mark sick areas after segmentation.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Showed healthy vs. sick leaf with mask.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Measured disease by sick vs. total pixels.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kGroteskNeue"/>
              </a:rPr>
              <a:t>Example: grey leaf spot﻿ about 63.85% affected.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9830C1-21EE-57E0-0B9F-89E01FA65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61" y="1092121"/>
            <a:ext cx="8497018" cy="1269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187526F-54D1-4A00-FC9C-21E242BB7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191" y="3429000"/>
            <a:ext cx="2750810" cy="2882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AFFE3-1958-2F2B-2676-783B804BB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212" y="91789"/>
            <a:ext cx="5869362" cy="1143000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Training/Test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0DCA3-A600-B9C7-D556-7554E36BB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12" y="1234789"/>
            <a:ext cx="8523576" cy="2673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0C4FDC-C523-21D5-6274-D7F78A3B47F9}"/>
              </a:ext>
            </a:extLst>
          </p:cNvPr>
          <p:cNvSpPr txBox="1"/>
          <p:nvPr/>
        </p:nvSpPr>
        <p:spPr>
          <a:xfrm>
            <a:off x="546186" y="4114799"/>
            <a:ext cx="66510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fkGroteskNeue"/>
              </a:rPr>
              <a:t>Split dataset: 80% train, 20% test.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fkGroteskNeue"/>
              </a:rPr>
              <a:t>Train set helped model learn features.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fkGroteskNeue"/>
              </a:rPr>
              <a:t>Test set checked model on new data.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sz="2800" b="0" i="0" dirty="0">
                <a:effectLst/>
                <a:latin typeface="fkGroteskNeue"/>
              </a:rPr>
              <a:t>This split helps model work well on unseen images.</a:t>
            </a:r>
          </a:p>
        </p:txBody>
      </p:sp>
    </p:spTree>
    <p:extLst>
      <p:ext uri="{BB962C8B-B14F-4D97-AF65-F5344CB8AC3E}">
        <p14:creationId xmlns:p14="http://schemas.microsoft.com/office/powerpoint/2010/main" val="123714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13" y="0"/>
            <a:ext cx="8922774" cy="1020811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Learning Classification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613" y="1233086"/>
            <a:ext cx="9033387" cy="2074653"/>
          </a:xfrm>
        </p:spPr>
        <p:txBody>
          <a:bodyPr>
            <a:normAutofit/>
          </a:bodyPr>
          <a:lstStyle/>
          <a:p>
            <a:r>
              <a:rPr lang="en-US" sz="2400" dirty="0"/>
              <a:t>Used EfficientNetB0 model from TensorFlow Hub for classification.</a:t>
            </a:r>
          </a:p>
          <a:p>
            <a:r>
              <a:rPr lang="en-US" sz="2400" dirty="0"/>
              <a:t>Model is pre-trained and knows many visual features.</a:t>
            </a:r>
          </a:p>
          <a:p>
            <a:r>
              <a:rPr lang="en-US" sz="2400" dirty="0"/>
              <a:t>Added dense layers to classify maize leaf diseases in 4 groups.</a:t>
            </a:r>
          </a:p>
          <a:p>
            <a:r>
              <a:rPr lang="en-US" sz="2400" dirty="0"/>
              <a:t>This cut training time and boosted accuracy.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28237D-94B1-3031-3EC7-9440440E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511"/>
          <a:stretch>
            <a:fillRect/>
          </a:stretch>
        </p:blipFill>
        <p:spPr>
          <a:xfrm>
            <a:off x="404761" y="3244460"/>
            <a:ext cx="7957576" cy="2592729"/>
          </a:xfrm>
          <a:prstGeom prst="rect">
            <a:avLst/>
          </a:prstGeom>
        </p:spPr>
      </p:pic>
      <p:sp>
        <p:nvSpPr>
          <p:cNvPr id="4" name="Google Shape;136;p18">
            <a:extLst>
              <a:ext uri="{FF2B5EF4-FFF2-40B4-BE49-F238E27FC236}">
                <a16:creationId xmlns:a16="http://schemas.microsoft.com/office/drawing/2014/main" id="{AB55FD3B-54FD-94A2-DF46-D546A17F15C9}"/>
              </a:ext>
            </a:extLst>
          </p:cNvPr>
          <p:cNvSpPr txBox="1"/>
          <p:nvPr/>
        </p:nvSpPr>
        <p:spPr>
          <a:xfrm>
            <a:off x="110613" y="5829541"/>
            <a:ext cx="8664677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dirty="0"/>
              <a:t>Input Leaf Image → EfficientNetB0 Feature Extractor → Dense Layers → 4-Class Output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561" y="38107"/>
            <a:ext cx="6132707" cy="835076"/>
          </a:xfrm>
        </p:spPr>
        <p:txBody>
          <a:bodyPr>
            <a:normAutofit/>
          </a:bodyPr>
          <a:lstStyle/>
          <a:p>
            <a:r>
              <a:rPr sz="4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Training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76604-5F37-C1A6-AAF8-E1B7E1B875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57"/>
          <a:stretch>
            <a:fillRect/>
          </a:stretch>
        </p:blipFill>
        <p:spPr>
          <a:xfrm>
            <a:off x="380729" y="873183"/>
            <a:ext cx="4058536" cy="10915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677EA-3B87-7DA2-0847-69E3CDB04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29" y="2056689"/>
            <a:ext cx="6298872" cy="32791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401A18-AB44-57AD-7A83-4F9B2B07237D}"/>
              </a:ext>
            </a:extLst>
          </p:cNvPr>
          <p:cNvSpPr txBox="1"/>
          <p:nvPr/>
        </p:nvSpPr>
        <p:spPr>
          <a:xfrm>
            <a:off x="175561" y="5427802"/>
            <a:ext cx="72133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Used Adam optimizer and cross-entropy loss to build the model.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Trained the model for 10 rounds (epochs).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Checked accuracy and loss to make sure learning was good.</a:t>
            </a:r>
          </a:p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Stopped early to avoid overfitting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0" i="0" dirty="0">
                <a:effectLst/>
                <a:latin typeface="fkGroteskNeue"/>
              </a:rPr>
              <a:t>validation </a:t>
            </a:r>
            <a:r>
              <a:rPr lang="en-US" dirty="0"/>
              <a:t>results showed stable convergence and good generalization.</a:t>
            </a:r>
            <a:endParaRPr lang="en-US" b="0" i="0" dirty="0">
              <a:effectLst/>
              <a:latin typeface="fkGrotesk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87" y="89782"/>
            <a:ext cx="6253316" cy="83439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 and Performance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586" y="924172"/>
            <a:ext cx="4504814" cy="38141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2A582-E59D-CC16-8754-BFA1FC7C31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797"/>
          <a:stretch>
            <a:fillRect/>
          </a:stretch>
        </p:blipFill>
        <p:spPr>
          <a:xfrm>
            <a:off x="4991509" y="1380982"/>
            <a:ext cx="4073100" cy="18385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5B0E1F-D5D2-80ED-76AC-1963D21C22A4}"/>
              </a:ext>
            </a:extLst>
          </p:cNvPr>
          <p:cNvSpPr txBox="1"/>
          <p:nvPr/>
        </p:nvSpPr>
        <p:spPr>
          <a:xfrm>
            <a:off x="206477" y="4834080"/>
            <a:ext cx="82959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Neue"/>
              </a:rPr>
              <a:t>Our model reached about 95.2% accuracy on the test data.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Neue"/>
              </a:rPr>
              <a:t>The confusion matrix confirms most predictions were correct for all four classes.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Neue"/>
              </a:rPr>
              <a:t>An F1-score of 0.95 shows the system is consistent and reliable.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b="0" i="0" dirty="0">
                <a:effectLst/>
                <a:latin typeface="fkGroteskNeue"/>
              </a:rPr>
              <a:t>These results prove the model accurately identifies diseases across different maize leaf conditions.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F1392-ACE2-1947-B6BB-C3CC0129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37" y="278479"/>
            <a:ext cx="73025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Interpretation and Synergy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243837" y="994993"/>
            <a:ext cx="8656325" cy="2080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The segmentation process identifies and highlights the infected parts of a leaf.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The classification process then determines which specific disease it 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By combining the two, we get both the disease name and the severity percentage.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This provides more useful and transparent results for farmers.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8EFCBB5-2985-0D22-DE4B-F8A358C712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745"/>
          <a:stretch>
            <a:fillRect/>
          </a:stretch>
        </p:blipFill>
        <p:spPr bwMode="auto">
          <a:xfrm>
            <a:off x="1155565" y="2557749"/>
            <a:ext cx="6832869" cy="372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941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8850" y="978396"/>
            <a:ext cx="7543800" cy="893267"/>
          </a:xfrm>
        </p:spPr>
        <p:txBody>
          <a:bodyPr/>
          <a:lstStyle/>
          <a:p>
            <a:r>
              <a:rPr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750" y="2098676"/>
            <a:ext cx="7556500" cy="40005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  <a:defRPr sz="1800"/>
            </a:pPr>
            <a:r>
              <a:rPr sz="2400" dirty="0"/>
              <a:t>Combined segmentation-classification pipeline achieved 95.2% accuracy.</a:t>
            </a:r>
            <a:endParaRPr lang="en-US" sz="2400" dirty="0"/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lang="en-US" sz="2400" dirty="0"/>
              <a:t>Demonstrated potential for real-time precision agriculture applications.</a:t>
            </a:r>
            <a:br>
              <a:rPr lang="en-US" sz="2400" dirty="0"/>
            </a:br>
            <a:endParaRPr lang="en-US" sz="2400" dirty="0"/>
          </a:p>
          <a:p>
            <a:pPr>
              <a:buFont typeface="Wingdings" panose="05000000000000000000" pitchFamily="2" charset="2"/>
              <a:buChar char="v"/>
              <a:defRPr sz="1800"/>
            </a:pPr>
            <a:r>
              <a:rPr sz="2400" b="1" dirty="0"/>
              <a:t>Future work:</a:t>
            </a:r>
            <a:br>
              <a:rPr sz="2400" dirty="0"/>
            </a:br>
            <a:r>
              <a:rPr sz="2400" dirty="0"/>
              <a:t>   - Integrate segmentation masks into CNN input.</a:t>
            </a:r>
            <a:br>
              <a:rPr sz="2400" dirty="0"/>
            </a:br>
            <a:r>
              <a:rPr sz="2400" dirty="0"/>
              <a:t>   - Use YOLO for object-level detection.</a:t>
            </a:r>
            <a:br>
              <a:rPr sz="2400" dirty="0"/>
            </a:br>
            <a:r>
              <a:rPr sz="2400" dirty="0"/>
              <a:t>   -</a:t>
            </a:r>
            <a:r>
              <a:rPr lang="en-US" sz="2400" dirty="0"/>
              <a:t> </a:t>
            </a:r>
            <a:r>
              <a:rPr sz="2400" dirty="0"/>
              <a:t>Deploy lightweight model on edge devices for field implementation.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79CAED-0A5E-C7ED-8F37-F9ABCF595510}"/>
              </a:ext>
            </a:extLst>
          </p:cNvPr>
          <p:cNvSpPr txBox="1">
            <a:spLocks/>
          </p:cNvSpPr>
          <p:nvPr/>
        </p:nvSpPr>
        <p:spPr>
          <a:xfrm>
            <a:off x="3683000" y="5872164"/>
            <a:ext cx="2095500" cy="4540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0070C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528</TotalTime>
  <Words>491</Words>
  <Application>Microsoft Office PowerPoint</Application>
  <PresentationFormat>On-screen Show (4:3)</PresentationFormat>
  <Paragraphs>58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fkGroteskNeue</vt:lpstr>
      <vt:lpstr>Wingdings</vt:lpstr>
      <vt:lpstr>Retrospect</vt:lpstr>
      <vt:lpstr>Plant Disease Segmentation and Classification</vt:lpstr>
      <vt:lpstr>Dataset and Preprocessing</vt:lpstr>
      <vt:lpstr>OpenCV Segmentation Pipeline</vt:lpstr>
      <vt:lpstr>Contour detection</vt:lpstr>
      <vt:lpstr>Training/Test sets</vt:lpstr>
      <vt:lpstr>Deep Learning Classification Model</vt:lpstr>
      <vt:lpstr>Model Training Process</vt:lpstr>
      <vt:lpstr>Results and Performance</vt:lpstr>
      <vt:lpstr>Interpretation and Synergy</vt:lpstr>
      <vt:lpstr>Conclusion and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Disease Segmentation and Classification</dc:title>
  <dc:subject/>
  <dc:creator>Kato Joseph Bwanika</dc:creator>
  <cp:keywords/>
  <dc:description>generated using python-pptx</dc:description>
  <cp:lastModifiedBy>Kato Joseph Bwanika</cp:lastModifiedBy>
  <cp:revision>33</cp:revision>
  <dcterms:created xsi:type="dcterms:W3CDTF">2013-01-27T09:14:16Z</dcterms:created>
  <dcterms:modified xsi:type="dcterms:W3CDTF">2025-11-05T06:47:43Z</dcterms:modified>
  <cp:category/>
</cp:coreProperties>
</file>